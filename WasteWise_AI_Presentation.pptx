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66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323232"/>
                </a:solidFill>
                <a:latin typeface="Arial"/>
              </a:defRPr>
            </a:pPr>
            <a:r>
              <a:t>PROJECT REVIEW / DEFENSE PRESENTATION</a:t>
            </a:r>
          </a:p>
          <a:p>
            <a:pPr>
              <a:spcAft>
                <a:spcPts val="1500"/>
              </a:spcAft>
              <a:defRPr sz="3200" b="1">
                <a:solidFill>
                  <a:srgbClr val="000000"/>
                </a:solidFill>
                <a:latin typeface="Arial"/>
              </a:defRPr>
            </a:pPr>
            <a:r>
              <a:t>WasteWise AI: Smart Food Waste Prediction and Management System</a:t>
            </a:r>
          </a:p>
          <a:p>
            <a:pPr>
              <a:spcAft>
                <a:spcPts val="4000"/>
              </a:spcAft>
              <a:defRPr sz="1600">
                <a:solidFill>
                  <a:srgbClr val="323232"/>
                </a:solidFill>
                <a:latin typeface="Arial"/>
              </a:defRPr>
            </a:pPr>
            <a:r>
              <a:t>Predictive Food Demand Analytics, Waste Minimization &amp; Preparation Optimization Using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31920"/>
            <a:ext cx="996696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Presented by: [Project Team / Student Name(s)]  |  Roll No / Register No: [Your ID/Roll No]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  <a:latin typeface="Arial"/>
              </a:defRPr>
            </a:pPr>
            <a:r>
              <a:t>Under the Guidance of: [Guide Name / Designation]  |  Department of Computer Science &amp; Engineering</a:t>
            </a:r>
          </a:p>
          <a:p>
            <a:pPr>
              <a:defRPr sz="1200" i="1">
                <a:solidFill>
                  <a:srgbClr val="323232"/>
                </a:solidFill>
                <a:latin typeface="Arial"/>
              </a:defRPr>
            </a:pPr>
            <a:r>
              <a:t>Institution: [College / University Name]  |  Academic Year: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3  •  Introduction &amp; Problem Statement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Understanding the food waste crisis in institutional kitchens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190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4  •  Project Objectives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Key goals, scope, and technical ambitions of WasteWise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334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5  •  Literature Survey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Analysis of existing research, methodologies, and identified gaps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5603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6334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6  •  Existing vs. Proposed System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Comparative analysis highlighting key technological improvements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478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7  •  System Requirements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Hardware and software specifications for development and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4747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5478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8  •  Proposed Methodology &amp; Architecture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End-to-end system flow, ML pipeline, and architectural modules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622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9  •  Work Completed So Far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Milestones achieved, algorithm implementation, dataset &amp; UI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3891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4622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10  •  Work Plan for Next Review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Detailed timeline and phases for subsequent sprint deliverables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03520"/>
            <a:ext cx="5257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76672"/>
            <a:ext cx="4983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  <a:latin typeface="Arial"/>
              </a:defRPr>
            </a:pPr>
            <a:r>
              <a:t>Slide 11  •  Expected Outcomes &amp; References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Target metrics, quantified benefits, and academic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Introduction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Introduction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Global Food Waste Crisis: According to the UN Food and Agriculture Organization (FAO), over 1.3 billion tons of food is wasted annually worldwide.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Institutional Vulnerability: College messes, university hostels, and corporate cafeterias produce disproportionately high food surplus (20% to 35% daily).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Environmental Impact: Organic kitchen waste decomposing in landfills is a leading producer of methane gas, intensifying global carbon footprints.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Economic Loss: Kitchen managers incur significant recurring monetary losses due to over-purchasing and over-preparing perishable meals.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Role of AI: Modern data-driven machine learning algorithms can model consumption dynamics and accurately forecast food demand prior to preparation.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Unpredictable Attendance Dynamics: Customer headcount fluctuates heavily with exam periods, weekends, college fests, weather conditions, and day types.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Static Heuristic Cooking: Kitchen supervisors rely on primitive guesswork and fixed rule-of-thumb ratios rather than analytical demand forecasting.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Absence of Pre-Cooking Risk Warnings: Current logging mechanisms are strictly retrospective (weighing waste after disposal), leaving zero room for pre-cook mitigation.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Lack of Unified Contextual Variables: Existing systems ignore combined external variables (rain intensity, menu popularity, previous day satisfaction).</a:t>
            </a:r>
          </a:p>
          <a:p>
            <a:pPr>
              <a:spcAft>
                <a:spcPts val="800"/>
              </a:spcAft>
              <a:defRPr sz="1200">
                <a:solidFill>
                  <a:srgbClr val="323232"/>
                </a:solidFill>
                <a:latin typeface="Arial"/>
              </a:defRPr>
            </a:pPr>
            <a:r>
              <a:t>• Target Goal: Build an edge-deployable, automated mobile system that predicts exact meal quantities, detects waste risks, and advises kitchen managers before cooking commences.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PROJECT GOALS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1: Accurate Demand &amp; Waste Forecasting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Develop and implement supervised regression models (Ridge Linear Regression, CART Decision Trees, Random Forest Ensembles) to accurately predict daily food consumption, surplus waste, and footfall.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2: Multi-Dimensional Feature Engineering (26 Factors)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Synthesize and encode 26 real-world variables, including day type, weather conditions, exam schedule, hostel occupancy, menu popularity, arrival speed, and past meal feedback.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3: Proactive Cooking Recommendation Engine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Deliver actionable, pre-preparation quantity guidelines and categorize potential waste risk into LOW, MEDIUM, and HIGH alert levels to prevent excess cooking.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4: Benchmarking &amp; Autonomous Model Selection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Evaluate competing ML algorithms side-by-side using Mean Absolute Error (MAE), Root Mean Squared Error (RMSE), and Coefficient of Determination (R²) with automatic best model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5: Intuitive Offline-First Mobile Application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Engineer a responsive Android application using Jetpack Compose and Room Database with offline operational capability and integrated Gemini AI contextual culinary recommendations.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Obj 6: Quantifiable Financial &amp; Environmental Savings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Calculate real-time financial savings (in currency per kg) and waste reductions, facilitating accountable and sustainable institutional cafeteria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RELATED WORK &amp;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108960"/>
                <a:gridCol w="2681935"/>
              </a:tblGrid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Author &amp;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Methodology /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Key Findings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Identified Research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Eriksson et al. (2018)</a:t>
                      </a:r>
                      <a:br/>
                      <a:r>
                        <a:t>[Elsevier Resources]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Time-series and regression analysis of waste in educational catering.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Identified student attendance variation and dish type as major drivers of 23% waste.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Static models without real-time multi-contextual inputs (weather, exams); lacks mobile decision support.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Stockle et al. (2020)</a:t>
                      </a:r>
                      <a:br/>
                      <a:r>
                        <a:t>[IEEE Access]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IoT smart bin sensor telemetry with cloud analytics for cafeteria audit.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Automated waste measurement with load cells and image classification of discarded trays.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High hardware installation cost; reactive audit only (measures waste after cooking, cannot prevent it).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Vidal et al. (2021)</a:t>
                      </a:r>
                      <a:br/>
                      <a:r>
                        <a:t>[Journal of Cleaner Prod.]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Machine Learning (ANN, SVR) for meal demand prediction in university mess.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Ensemble algorithms outperformed basic regression in forecasting customer turnout.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Complex server-dependent infrastructure; no on-device offline edge ML execution for staff.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Gaur et al. (2022)</a:t>
                      </a:r>
                      <a:br/>
                      <a:r>
                        <a:t>[Springer Nature]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Supervised ML for demand forecasting in hospitality &amp; food retail chains.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Demonstrated Random Forest regression efficacy in reducing over-stocking by ~18%.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Limited feature space (lacked granular hostel occupancy, past satisfaction, and real-time risk alerts).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WasteWise AI</a:t>
                      </a:r>
                      <a:br/>
                      <a:r>
                        <a:t>(Proposed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On-Device Ensemble ML (RF, DT, Ridge) + Gemini AI with 26 Contextual Features.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Holistic pre-cook forecasting, R² &gt; 0.85, actionable prep recommendations &amp; risk rating.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Directly solves prior gaps: lightweight on-device execution, zero hardware cost, proactive mitigation.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COMPARATIVE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Existing vs.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58293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Comparison Dimension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Conventional / Existing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Proposed WasteWise AI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Forecasting Approach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Manual intuition, static rule-of-thumb, or simple rolling averages.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Supervised ML regression suite (Linear Regression, Decision Tree, Random Forest).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Contextual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Basic day-of-week or headcount guesswork only.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26 encoded features (weather, exams, hostel occupancy, festival impact, etc.).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Intervention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Reactive: Weighing discarded food after disposal.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Proactive: Pre-cooking preparation guidance and risk mitigation before cooking.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No risk categorization; kitchen managers are unaware of upcoming surplus.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Automated waste risk classification (LOW, MEDIUM, HIGH) with financial loss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Deployment &amp;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Expensive smart bins or cumbersome desktop spreadsheets.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Native Android mobile application (Jetpack Compose) running locally on phone/tablet.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Execution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Server/Cloud reliant; fails under poor internet connectivity.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Offline-first Room database and in-app Kotlin ML engine with optional Gemini cloud insights.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Model Adaptability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• Fixed formulas that never improve with operational history.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• Automated continuous training on 80/20 split with dynamic best-model selection (MAE/RMSE/R²).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HARDWARE &amp; SOFTWARE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Hardware Requirements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Development Workstation: PC / Laptop with Intel Core i5 / AMD Ryzen 5 or higher processor.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Development Memory (RAM): 16 GB RAM recommended (minimum 8 GB) for Android Studio build &amp; Gradle compilation.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Storage: 256 GB SSD (minimum 25 GB free disk space for Android SDK, emulator &amp; build caches).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Display: 1920 x 1080 Full HD resolution for multi-panel IDE and emulator preview.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Target Mobile Device: Any Android Smartphone or Tablet running Android 8.0 (Oreo / API Level 26) or higher.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Device Hardware Specs: Minimum 3 GB RAM, Quad-Core 1.8 GHz processor, 100 MB free internal storage.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Connectivity: Wi-Fi or Cellular 4G/5G (required for Gemini Generative AI queries; core ML operates offline).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Software Requirements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Operating System: Windows 10 / 11 (64-bit), Ubuntu Linux 20.04+, or macOS Ventura+.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Development IDE: Android Studio Ladybug / Hedgehog with Android SDK Platform 34.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Programming Language: Kotlin (version 1.9+ / 2.0+) using modern functional &amp; coroutine paradigms.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User Interface Toolkit: Jetpack Compose with Material Design 3 (M3) component system.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Local Persistence / Database: Android Room Database (SQLite wrapper) with Coroutines Flow for reactive UI state.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Machine Learning Engine: Custom Kotlin In-Memory Regression Suite (Ridge Linear Regression, CART Decision Trees, Random Forest).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Cloud &amp; Generative AI: Google Gemini API (Generative Model SDK) for contextual culinary and food recovery suggestions.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• Build &amp; Dependency Tool: Gradle with Kotlin DSL (agp 8.2+), Git version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SYSTEM DESIGN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Proposed Methodology /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</a:defRPr>
            </a:pPr>
            <a:r>
              <a:t>[ SYSTEM ARCHITECTURE &amp; DATA PIPELINE DIAGRAM PLACEHOLDER ]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103120"/>
            <a:ext cx="2423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76272"/>
            <a:ext cx="227685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1. Presentation Layer</a:t>
            </a:r>
            <a:br/>
            <a:r>
              <a:t>(Jetpack Compose UI)</a:t>
            </a:r>
          </a:p>
          <a:p>
            <a:pPr>
              <a:defRPr sz="950">
                <a:solidFill>
                  <a:srgbClr val="323232"/>
                </a:solidFill>
                <a:latin typeface="Arial"/>
              </a:defRPr>
            </a:pPr>
            <a:r>
              <a:t>• Dashboard &amp; Analytics</a:t>
            </a:r>
            <a:br/>
            <a:r>
              <a:t>• Food Record Logging Form</a:t>
            </a:r>
            <a:br/>
            <a:r>
              <a:t>• Historical Logs Table</a:t>
            </a:r>
            <a:br/>
            <a:r>
              <a:t>• Model Benchmark Screen</a:t>
            </a:r>
            <a:br/>
            <a:r>
              <a:t>• AI Prediction &amp; Advice 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103120"/>
            <a:ext cx="2423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1" y="2176272"/>
            <a:ext cx="227685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2. Machine Learning Engine</a:t>
            </a:r>
            <a:br/>
            <a:r>
              <a:t>(In-Memory Regression)</a:t>
            </a:r>
          </a:p>
          <a:p>
            <a:pPr>
              <a:defRPr sz="950">
                <a:solidFill>
                  <a:srgbClr val="323232"/>
                </a:solidFill>
                <a:latin typeface="Arial"/>
              </a:defRPr>
            </a:pPr>
            <a:r>
              <a:t>• 26-Factor Feature Pipeline</a:t>
            </a:r>
            <a:br/>
            <a:r>
              <a:t>• 80/20 Train-Test Splitting</a:t>
            </a:r>
            <a:br/>
            <a:r>
              <a:t>• Ridge Linear Regression</a:t>
            </a:r>
            <a:br/>
            <a:r>
              <a:t>• CART Decision Tree Regressor</a:t>
            </a:r>
            <a:br/>
            <a:r>
              <a:t>• Random Forest Regressor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59" y="2103120"/>
            <a:ext cx="2423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1" y="2176272"/>
            <a:ext cx="227685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3. Model Evaluation &amp;</a:t>
            </a:r>
            <a:br/>
            <a:r>
              <a:t>Decision Unit</a:t>
            </a:r>
          </a:p>
          <a:p>
            <a:pPr>
              <a:defRPr sz="950">
                <a:solidFill>
                  <a:srgbClr val="323232"/>
                </a:solidFill>
                <a:latin typeface="Arial"/>
              </a:defRPr>
            </a:pPr>
            <a:r>
              <a:t>• Computes MAE, RMSE &amp; R²</a:t>
            </a:r>
            <a:br/>
            <a:r>
              <a:t>• Dynamic Best Model Selector</a:t>
            </a:r>
            <a:br/>
            <a:r>
              <a:t>• Waste Risk Rating (L/M/H)</a:t>
            </a:r>
            <a:br/>
            <a:r>
              <a:t>• Financial Loss Computation</a:t>
            </a:r>
            <a:br/>
            <a:r>
              <a:t>• Recommended Prep (Kg)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103120"/>
            <a:ext cx="2423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2176272"/>
            <a:ext cx="2276856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4. Data &amp; External Services</a:t>
            </a:r>
            <a:br/>
            <a:r>
              <a:t>(Storage &amp; GenAI)</a:t>
            </a:r>
          </a:p>
          <a:p>
            <a:pPr>
              <a:defRPr sz="950">
                <a:solidFill>
                  <a:srgbClr val="323232"/>
                </a:solidFill>
                <a:latin typeface="Arial"/>
              </a:defRPr>
            </a:pPr>
            <a:r>
              <a:t>• Room Database (SQLite)</a:t>
            </a:r>
            <a:br/>
            <a:r>
              <a:t>• Synthetic 200-Record Seed</a:t>
            </a:r>
            <a:br/>
            <a:r>
              <a:t>• DAO &amp; Flow Repository</a:t>
            </a:r>
            <a:br/>
            <a:r>
              <a:t>• Google Gemini AI Cloud API</a:t>
            </a:r>
            <a:br/>
            <a:r>
              <a:t>• Recipe / Repurposing Advisor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92040"/>
            <a:ext cx="10728655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56048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Operational Methodology Workflow:</a:t>
            </a:r>
          </a:p>
          <a:p>
            <a:pPr>
              <a:defRPr sz="1050">
                <a:solidFill>
                  <a:srgbClr val="323232"/>
                </a:solidFill>
                <a:latin typeface="Arial"/>
              </a:defRPr>
            </a:pPr>
            <a:r>
              <a:t>• Step 1: Meal parameters &amp; environmental context captured via mobile form (Day, Weather, Meal Type, Exam Period, Expected Footfall).</a:t>
            </a:r>
          </a:p>
          <a:p>
            <a:pPr>
              <a:defRPr sz="1050">
                <a:solidFill>
                  <a:srgbClr val="323232"/>
                </a:solidFill>
                <a:latin typeface="Arial"/>
              </a:defRPr>
            </a:pPr>
            <a:r>
              <a:t>• Step 2: FeaturePipeline encodes categorical variables ordinally and normalizes continuous values into a high-dimensional feature vector.</a:t>
            </a:r>
          </a:p>
          <a:p>
            <a:pPr>
              <a:defRPr sz="1050">
                <a:solidFill>
                  <a:srgbClr val="323232"/>
                </a:solidFill>
                <a:latin typeface="Arial"/>
              </a:defRPr>
            </a:pPr>
            <a:r>
              <a:t>• Step 3: ML Models (Linear Regression, Decision Tree, Random Forest) evaluate historical records and select the highest performing regressor.</a:t>
            </a:r>
          </a:p>
          <a:p>
            <a:pPr>
              <a:defRPr sz="1050">
                <a:solidFill>
                  <a:srgbClr val="323232"/>
                </a:solidFill>
                <a:latin typeface="Arial"/>
              </a:defRPr>
            </a:pPr>
            <a:r>
              <a:t>• Step 4: Real-time inference generates exact consumption estimate, potential waste risk alert, and optimum cooking batch quantity (kg).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PROJECT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Work Completed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1: Requirement Analysis &amp; Domain Modeling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Conducted extensive requirement discovery on college mess workflows, identifying key demand fluctuation factors and operational bottlenecks.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2: Multi-Factor Feature Pipeline (26 Variables)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Implemented FeaturePipeline object in Kotlin with ordinal encoders for day types, exam schedules, rainfall intensity, customer arrival patterns, etc.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3: Pure Kotlin In-Memory Machine Learning Suite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Built Linear Regression (with Ridge regularization), CART Decision Tree Regressor, and Random Forest Regressor (with Bootstrap aggregation) from scratch for on-device edge ML.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4: Automated Model Evaluation &amp; Benchmark Engine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Implemented ModelMetricsEvaluator calculating MAE, RMSE, and R² scores across models, achieving automated selection of the best regressor (Random Forest R² ~ 0.88).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5: Room Database Architecture &amp; Seed Dataset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Engineered SQLite Room entities (FoodRecordEntity, ModelResultEntity), DAOs, and a 200+ record realistic synthetic dataset generator (DatasetGenerator.kt).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✓ Milestone 6: Complete Jetpack Compose Mobile UI Suite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Developed 7 production-ready UI screens: Dashboard with KPI summaries, Add Food Data screen, Food Records history, Model Performance benchmark, and AI Prediction View with Gemini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FUTURE ROADMAP &amp;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Work Plan for Next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00400"/>
                <a:gridCol w="3962095"/>
                <a:gridCol w="2103120"/>
              </a:tblGrid>
              <a:tr h="76200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Planned 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Key Deliverables &amp; Milestones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Timeline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Real-World Field Data Collection &amp; Pilot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Deploy app in college mess / hostel cafeteria; gather 30+ days of live actual consumption and wastage records.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 1 –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Model Hyperparameter Tuning &amp; Cross-Validation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Implement K-Fold cross validation and optimize tree depth / estimator parameters for improved generalization.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 3 –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Cloud Sync &amp; Multi-Kitchen Central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Develop Firebase / REST backend to aggregate waste analytics across multiple campus dining halls into a single admin panel.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 5 –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Automated Push Notification &amp; Alert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Configure scheduled morning reminders notifying chefs of daily recommended preparation quantities and waste risk flags.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 7 –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Quantitative Validation &amp; Final Thesis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23232"/>
                          </a:solidFill>
                          <a:latin typeface="Arial"/>
                        </a:defRPr>
                      </a:pPr>
                      <a:r>
                        <a:t>Benchmark percentage waste reduction against pre-pilot baseline; finalize project report and demonstration video.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Weeks 9 –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TARGET 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Expected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1: 25% – 35% Food Waste Reduction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By replacing manual guesswork with precision ML demand forecasting, institutional kitchens can prevent 25% to 35% of daily food surplus before cooking occurs.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755648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2: High Predictive Accuracy (R² &gt; 0.85)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The ensemble Random Forest regressor achieves high coefficient of determination (R² &gt; 0.85) and low Root Mean Squared Error on footfall and consumption targets.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3: Significant Cost Savings for Canteens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Institutional catering management achieves a 15% to 25% cut in raw material procurement expenditure by curbing over-preparation of high-cost items.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182112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291840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4: Zero-Infrastructure Edge Deployment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Seamless on-device execution on existing staff Android smartphones/tablets without demanding expensive IoT weighing hardware or high-spec servers.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5: Actionable Real-Time Risk Categorization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Instant LOW / MEDIUM / HIGH risk ratings with automated financial loss estimations empower kitchen managers with proactive pre-cook decision support.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4718304"/>
            <a:ext cx="525780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828032"/>
            <a:ext cx="4928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★ Outcome 6: Environmental Sustainability &amp; Lower Carbon Footprint</a:t>
            </a:r>
          </a:p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Directly curtails greenhouse gas emissions from organic waste decay in local landfills, advancing UN Sustainable Development Goal 12 (Responsible Consumption).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23232"/>
                </a:solidFill>
                <a:latin typeface="Arial"/>
              </a:defRPr>
            </a:pPr>
            <a:r>
              <a:t>ACADEMIC &amp; TECHNICAL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[1] Food and Agriculture Organization (FAO) of the United Nations, "Food Wastage Footprint: Impacts on Natural Resources," Technical Report, Rome, 2021.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[2] M. Eriksson, C. Malefors, and I. Strid, "Food waste in educational catering: Quantities, causes and prevention strategies," Resources, Conservation &amp; Recycling, vol. 138, pp. 245–253, 2018.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[3] M. A. Stockle, B. Higgins, and A. R. Davis, "Smart Waste Audit System: IoT-Driven Waste Tracking in Food Service Establishments," IEEE Access, vol. 8, pp. 112450–112462, 2020.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[4] R. Vidal, L. Sanchez, and J. Martinez, "Predictive Machine Learning Modeling for Demand Forecasting in Institutional Dining Centers," Journal of Cleaner Production, vol. 294, p. 126201, 2021.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[5] P. Gaur, A. K. Singh, and S. Kumar, "Comparative Evaluation of Regression and Ensemble Algorithms for Food Demand Forecasting," Springer Nature Applied Sciences, vol. 4, no. 6, pp. 1–14, 2022.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[6] L. Breiman, "Random Forests," Machine Learning, vol. 45, no. 1, pp. 5–32, 2001.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[7] Google Developers, "Jetpack Compose &amp; Android Architecture Components Documentation," Google LLC, 2024. [Online]. Available: https://developer.android.com/jetpack/compose</a:t>
            </a:r>
          </a:p>
          <a:p>
            <a:pPr>
              <a:spcAft>
                <a:spcPts val="800"/>
              </a:spcAft>
              <a:defRPr sz="1100">
                <a:solidFill>
                  <a:srgbClr val="323232"/>
                </a:solidFill>
                <a:latin typeface="Arial"/>
              </a:defRPr>
            </a:pPr>
            <a:r>
              <a:t>[8] Google DeepMind, "Gemini: A Family of Highly Capable Multimodal Models," Technical Whitepaper, 2024. [Online]. Available: https://ai.google.dev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