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66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3C3C3C"/>
                </a:solidFill>
                <a:latin typeface="Arial"/>
              </a:defRPr>
            </a:pPr>
            <a:r>
              <a:t>PROJECT REVIEW / DEFENSE PRESENTATION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Arial"/>
              </a:defRPr>
            </a:pPr>
            <a:r>
              <a:t>WasteWise AI: Smart Food Waste Prediction and Management System</a:t>
            </a:r>
          </a:p>
          <a:p>
            <a:pPr>
              <a:spcAft>
                <a:spcPts val="3600"/>
              </a:spcAft>
              <a:defRPr sz="1500">
                <a:solidFill>
                  <a:srgbClr val="3C3C3C"/>
                </a:solidFill>
                <a:latin typeface="Arial"/>
              </a:defRPr>
            </a:pPr>
            <a:r>
              <a:t>Predictive Food Demand Analytics, Waste Minimization &amp; Preparation Optimization Using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840480"/>
            <a:ext cx="996696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Presented by: [Project Team / Student Name(s)]  |  Roll No / Register No: [Your ID/Roll No]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  <a:latin typeface="Arial"/>
              </a:defRPr>
            </a:pPr>
            <a:r>
              <a:t>Under the Guidance of: [Guide Name / Designation]  |  Department of Computer Science &amp; Engineering</a:t>
            </a:r>
          </a:p>
          <a:p>
            <a:pPr>
              <a:defRPr sz="1200" i="1">
                <a:solidFill>
                  <a:srgbClr val="3C3C3C"/>
                </a:solidFill>
                <a:latin typeface="Arial"/>
              </a:defRPr>
            </a:pPr>
            <a:r>
              <a:t>Institution: [College / University Name]  |  Academic Year: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Introduction &amp;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Introduction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Global Food Crisis: Over 1.3 billion tons of food is wasted annually worldwide (UN FAO).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Canteen Surplus: Institutional cafeterias produce 20% to 35% surplus food waste daily.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Environmental Impact: Organic landfill waste produces high methane emissions driving climate change.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Economic Loss: Kitchen managers suffer continuous financial losses from over-preparation.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AI Opportunity: Machine learning can accurately forecast meal demand prior to cooking.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8095" y="1645920"/>
            <a:ext cx="521208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30975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Problem Statement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Unpredictable Attendance: Customer headcount fluctuates with exams, weather, weekends &amp; events.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Manual Guesswork: Chefs rely on static rule-of-thumb ratios rather than predictive analytics.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Retrospective Audits: Post-dining food weighing cannot prevent over-cooking before it happens.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Isolated Variables: Existing solutions ignore combined contextual parameters (rain, occupancy, menus).</a:t>
            </a:r>
          </a:p>
          <a:p>
            <a:pPr>
              <a:spcAft>
                <a:spcPts val="9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• Target Goal: An on-device mobile AI system to forecast prep quantities and alert waste risks proactively.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PROJECT GOALS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755648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Obj 1: Demand &amp; Waste Forecasting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Develop supervised regression models (Ridge, CART, Random Forest) to predict daily consumption &amp; waste.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36792" y="1755648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Obj 2: 26-Factor Feature Engineering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Encode multi-dimensional variables (weather, exams, hostel occupancy, menu popularity, feedback).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82112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3291840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Obj 3: Pre-Cook Prep Guidance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Deliver actionable cooking quantities and categorize waste risks into LOW, MEDIUM, and HIGH alert levels.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182112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3291840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Obj 4: Benchmarking &amp; Auto Selection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Evaluate ML algorithms side-by-side (MAE, RMSE, R²) with dynamic on-device best model deployment.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18304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4828032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Obj 5: Intuitive Offline Mobile App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Engineer an offline-first Jetpack Compose app with Room SQLite database and actionable pre-cook advisory engine.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718304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4828032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Obj 6: Financial &amp; Environmental Savings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Calculate real-time cost savings (₹/kg) and landfill waste cuts, advancing UN SDG 12 sustainability.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RELATED WORK &amp; 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Literature Survey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19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Author &amp;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Methodology / Focus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Identified Research Gaps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Eriksson et al. (2018)</a:t>
                      </a:r>
                      <a:br/>
                      <a:r>
                        <a:t>[Elsevier]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Time-series &amp; regression in educational catering.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Identified student attendance &amp; dish type as drivers of 23% waste.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Lacks real-time multi-contextual inputs &amp; mobile decision support.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Stockle et al. (2020)</a:t>
                      </a:r>
                      <a:br/>
                      <a:r>
                        <a:t>[IEEE Access]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IoT smart bin sensor telemetry &amp; cloud analytics.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Automated waste measurement &amp; tray image classification.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High hardware cost; reactive audit only (measures waste post-disposal).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Vidal et al. (2021)</a:t>
                      </a:r>
                      <a:br/>
                      <a:r>
                        <a:t>[J. Clean Prod.]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ANN &amp; SVR for mess meal demand prediction.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Machine learning outperformed simple rolling averages.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Server-dependent; no on-device offline edge ML execution for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Gaur et al. (2022)</a:t>
                      </a:r>
                      <a:br/>
                      <a:r>
                        <a:t>[Springer]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Supervised ML for food demand forecasting.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Random Forest regression reduced over-stocking by ~18%.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Limited feature space; lacks pre-cook risk alerts &amp; actionable advice.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WasteWise AI</a:t>
                      </a:r>
                      <a:br/>
                      <a:r>
                        <a:t>(Proposed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On-Device Ensemble ML (RF, DT, Ridge) + Real-Time Waste Advisory.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Holistic pre-cook forecasting, R² ~ 0.89, prep advice &amp; risk rating.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Directly solves prior gaps: offline edge ML, zero hardware cost, proactive.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COMPARATIVE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Existing vs. Proposed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Comparison Dimension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Conventional / Existing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Proposed WasteWise AI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Forecasting Approach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• Manual intuition, static rule-of-thumb, or simple rolling averages.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• Supervised ML suite (Ridge Regression, Decision Tree, Random Forest).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Contextual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• Basic day-of-week or headcount guesswork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• 26 encoded features (weather, exams, occupancy, menu feedback, etc.).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Intervention Timing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• Reactive: Weighing discarded food after disposal.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• Proactive: Pre-cooking preparation guidance &amp; risk mitigation.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Risk Assessment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• No risk rating; chefs unaware of upcoming surplus.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• Automated waste risk rating (LOW, MEDIUM, HIGH) with financial alerts.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Deployment &amp;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• Expensive smart bins or cumbersome spreadsheets.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• Native Android app running locally on existing devices (Zero Cost).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Connectivity &amp;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• Cloud reliant; fails under poor internet connectivity.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• Offline-first Room database &amp; in-app Kotlin ML engine.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Model Adaptability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• Fixed formulas that never improve over time.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• Continuous on-device evaluation &amp; dynamic best-model selection (R² ~ 0.89).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HARDWARE &amp; SOFTWARE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System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Hardware Requirements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Development Workstation: PC/Laptop with Intel i5 / Ryzen 5+ processor.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Development RAM: 16 GB RAM recommended (min 8 GB) for Android Studio.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Storage: 256 GB SSD (min 25 GB free disk space for Android SDK).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Target Mobile Device: Any Android Smartphone/Tablet running Android 8.0+ (API 26+).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Device Specifications: 3 GB+ RAM, Quad-Core 1.8 GHz CPU, 100 MB free internal storage.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Connectivity: Standalone offline-first execution (Zero network dependency for ML inference).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8095" y="1645920"/>
            <a:ext cx="521208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30975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Software Requirements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Operating System: Windows 10/11 (64-bit), Ubuntu Linux, or macOS.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Development IDE: Android Studio Ladybug / Hedgehog with Android SDK 34.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Programming Language: Kotlin (v1.9+ / 2.0+) using Coroutines &amp; Flow paradigms.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UI Toolkit: Jetpack Compose with Material Design 3 (M3).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Local Persistence: Android Room Database (SQLite wrapper).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ML Engine: Custom Kotlin In-Memory Regression Suite (Ridge, CART, Random Forest).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• Advisory Engine: Rule-Based &amp; ML Recommendation System for prep deltas &amp; financial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SYSTEM DESIGN &amp; OPERATIONAL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Proposed Methodology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728655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SYSTEM ARCHITECTURE &amp; DATA PIPELINE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103120"/>
            <a:ext cx="24231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2377440"/>
            <a:ext cx="2276856" cy="1238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0000"/>
                </a:solidFill>
                <a:latin typeface="Arial"/>
              </a:defRPr>
            </a:pPr>
            <a:r>
              <a:rPr dirty="0"/>
              <a:t>1. Presentation Layer</a:t>
            </a:r>
            <a:br>
              <a:rPr dirty="0"/>
            </a:br>
            <a:r>
              <a:rPr dirty="0"/>
              <a:t>(Jetpack Compose UI)</a:t>
            </a:r>
          </a:p>
          <a:p>
            <a:pPr>
              <a:defRPr sz="950">
                <a:solidFill>
                  <a:srgbClr val="3C3C3C"/>
                </a:solidFill>
                <a:latin typeface="Arial"/>
              </a:defRPr>
            </a:pPr>
            <a:r>
              <a:rPr dirty="0"/>
              <a:t>• Analytics Dashboard</a:t>
            </a:r>
            <a:br>
              <a:rPr dirty="0"/>
            </a:br>
            <a:r>
              <a:rPr dirty="0"/>
              <a:t>• 26-Factor Log Form</a:t>
            </a:r>
            <a:br>
              <a:rPr dirty="0"/>
            </a:br>
            <a:r>
              <a:rPr dirty="0"/>
              <a:t>• Historical Logs Table</a:t>
            </a:r>
            <a:br>
              <a:rPr dirty="0"/>
            </a:br>
            <a:r>
              <a:rPr dirty="0"/>
              <a:t>• Model Benchmark View</a:t>
            </a:r>
            <a:br>
              <a:rPr dirty="0"/>
            </a:br>
            <a:r>
              <a:rPr dirty="0"/>
              <a:t>• AI Prediction Screen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11296" y="2112264"/>
            <a:ext cx="24231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94176" y="2377440"/>
            <a:ext cx="2276856" cy="1238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0000"/>
                </a:solidFill>
                <a:latin typeface="Arial"/>
              </a:defRPr>
            </a:pPr>
            <a:r>
              <a:rPr dirty="0"/>
              <a:t>2. Machine Learning Engine</a:t>
            </a:r>
            <a:br>
              <a:rPr dirty="0"/>
            </a:br>
            <a:r>
              <a:rPr dirty="0"/>
              <a:t>(In-Memory Regression)</a:t>
            </a:r>
          </a:p>
          <a:p>
            <a:pPr>
              <a:defRPr sz="950">
                <a:solidFill>
                  <a:srgbClr val="3C3C3C"/>
                </a:solidFill>
                <a:latin typeface="Arial"/>
              </a:defRPr>
            </a:pPr>
            <a:r>
              <a:rPr dirty="0"/>
              <a:t>• 26-Feature Pipeline</a:t>
            </a:r>
            <a:br>
              <a:rPr dirty="0"/>
            </a:br>
            <a:r>
              <a:rPr dirty="0"/>
              <a:t>• 80/20 Train-Test Split</a:t>
            </a:r>
            <a:br>
              <a:rPr dirty="0"/>
            </a:br>
            <a:r>
              <a:rPr dirty="0"/>
              <a:t>• Ridge Regression</a:t>
            </a:r>
            <a:br>
              <a:rPr dirty="0"/>
            </a:br>
            <a:r>
              <a:rPr dirty="0"/>
              <a:t>• CART Decision Tree</a:t>
            </a:r>
            <a:br>
              <a:rPr dirty="0"/>
            </a:br>
            <a:r>
              <a:rPr dirty="0"/>
              <a:t>• Random Forest Regressor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59" y="2103120"/>
            <a:ext cx="24231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27063" y="2377440"/>
            <a:ext cx="2276856" cy="1238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0000"/>
                </a:solidFill>
                <a:latin typeface="Arial"/>
              </a:defRPr>
            </a:pPr>
            <a:r>
              <a:rPr dirty="0"/>
              <a:t>3. Model Evaluation Unit</a:t>
            </a:r>
            <a:br>
              <a:rPr dirty="0"/>
            </a:br>
            <a:r>
              <a:rPr dirty="0"/>
              <a:t>(Decision Support)</a:t>
            </a:r>
          </a:p>
          <a:p>
            <a:pPr>
              <a:defRPr sz="950">
                <a:solidFill>
                  <a:srgbClr val="3C3C3C"/>
                </a:solidFill>
                <a:latin typeface="Arial"/>
              </a:defRPr>
            </a:pPr>
            <a:r>
              <a:rPr dirty="0"/>
              <a:t>• MAE, RMSE &amp; R² Scoring</a:t>
            </a:r>
            <a:br>
              <a:rPr dirty="0"/>
            </a:br>
            <a:r>
              <a:rPr dirty="0"/>
              <a:t>• Auto Best Model Selector</a:t>
            </a:r>
            <a:br>
              <a:rPr dirty="0"/>
            </a:br>
            <a:r>
              <a:rPr dirty="0"/>
              <a:t>• Waste Risk Rating (L/M/H)</a:t>
            </a:r>
            <a:br>
              <a:rPr dirty="0"/>
            </a:br>
            <a:r>
              <a:rPr dirty="0"/>
              <a:t>• Financial Loss Calc</a:t>
            </a:r>
            <a:br>
              <a:rPr dirty="0"/>
            </a:br>
            <a:r>
              <a:rPr dirty="0"/>
              <a:t>• Recommended Prep (Kg)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103120"/>
            <a:ext cx="24231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59951" y="2377439"/>
            <a:ext cx="2276856" cy="1238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0000"/>
                </a:solidFill>
                <a:latin typeface="Arial"/>
              </a:defRPr>
            </a:pPr>
            <a:r>
              <a:rPr dirty="0"/>
              <a:t>4. Data &amp; Persistence Layer</a:t>
            </a:r>
            <a:br>
              <a:rPr dirty="0"/>
            </a:br>
            <a:r>
              <a:rPr dirty="0"/>
              <a:t>(Room DB &amp; Storage)</a:t>
            </a:r>
          </a:p>
          <a:p>
            <a:pPr>
              <a:defRPr sz="950">
                <a:solidFill>
                  <a:srgbClr val="3C3C3C"/>
                </a:solidFill>
                <a:latin typeface="Arial"/>
              </a:defRPr>
            </a:pPr>
            <a:r>
              <a:rPr dirty="0"/>
              <a:t>• Room DB (SQLite)</a:t>
            </a:r>
            <a:br>
              <a:rPr dirty="0"/>
            </a:br>
            <a:r>
              <a:rPr dirty="0"/>
              <a:t>• 15k+ Dataset Generator</a:t>
            </a:r>
            <a:br>
              <a:rPr dirty="0"/>
            </a:br>
            <a:r>
              <a:rPr dirty="0"/>
              <a:t>• DAO Repository Layer</a:t>
            </a:r>
            <a:br>
              <a:rPr dirty="0"/>
            </a:br>
            <a:r>
              <a:rPr dirty="0"/>
              <a:t>• Coroutines Flow</a:t>
            </a:r>
            <a:br>
              <a:rPr dirty="0"/>
            </a:br>
            <a:r>
              <a:rPr dirty="0"/>
              <a:t>• Offline Persistence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892040"/>
            <a:ext cx="10728655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956048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Arial"/>
              </a:defRPr>
            </a:pPr>
            <a:r>
              <a:t>Operational Methodology Workflow:</a:t>
            </a:r>
          </a:p>
          <a:p>
            <a:pPr>
              <a:defRPr sz="1050">
                <a:solidFill>
                  <a:srgbClr val="3C3C3C"/>
                </a:solidFill>
                <a:latin typeface="Arial"/>
              </a:defRPr>
            </a:pPr>
            <a:r>
              <a:t>• Step 1: Input meal parameters &amp; environmental context (Weather, Exams, Occupancy, Menu).</a:t>
            </a:r>
          </a:p>
          <a:p>
            <a:pPr>
              <a:defRPr sz="1050">
                <a:solidFill>
                  <a:srgbClr val="3C3C3C"/>
                </a:solidFill>
                <a:latin typeface="Arial"/>
              </a:defRPr>
            </a:pPr>
            <a:r>
              <a:t>• Step 2: FeaturePipeline encodes categorical values &amp; normalizes feature vectors.</a:t>
            </a:r>
          </a:p>
          <a:p>
            <a:pPr>
              <a:defRPr sz="1050">
                <a:solidFill>
                  <a:srgbClr val="3C3C3C"/>
                </a:solidFill>
                <a:latin typeface="Arial"/>
              </a:defRPr>
            </a:pPr>
            <a:r>
              <a:t>• Step 3: ML Engine trains Ridge, CART &amp; Random Forest; automatically selects top model (RF R² ~ 0.89).</a:t>
            </a:r>
          </a:p>
          <a:p>
            <a:pPr>
              <a:defRPr sz="1050">
                <a:solidFill>
                  <a:srgbClr val="3C3C3C"/>
                </a:solidFill>
                <a:latin typeface="Arial"/>
              </a:defRPr>
            </a:pPr>
            <a:r>
              <a:t>• Step 4: System displays exact prep recommendation (kg), waste risk alert &amp; financial savings insights.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PROJECT IMPLEMENTATION STATUS (100% COMPLETED)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Work Completed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755648"/>
            <a:ext cx="4928616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rPr dirty="0"/>
              <a:t>✓ Milestone 1: Dataset &amp; Feature Engineering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100% Completed: Synthesized 26 contextual variables &amp; </a:t>
            </a:r>
            <a:r>
              <a:rPr lang="en-US" dirty="0"/>
              <a:t>30</a:t>
            </a:r>
            <a:r>
              <a:rPr dirty="0"/>
              <a:t>,000+ realistic mess records with ordinal encoding.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36792" y="1755648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✓ Milestone 2: Pure Kotlin Edge ML Engine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100% Completed: Implemented Ridge Linear Regression, CART Decision Trees, &amp; Random Forest Regressor on-device.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82112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3291840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✓ Milestone 3: Automated Model Evaluation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100% Completed: Evaluates MAE, RMSE &amp; R² automatically; Random Forest deployed as best model (R² ~ 0.89).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182112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3291840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✓ Milestone 4: Room Database Architecture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100% Completed: Built SQLite Room entities, DAOs, Flow repository layer, and offline persistence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18304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4828032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✓ Milestone 5: Complete Jetpack Compose Mobile App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100% Completed: Developed 7 production-ready UI screens: Dashboard, Add Data, History, Benchmark &amp; AI Insights.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718304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4828032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✓ Milestone 6: Actionable Prep &amp; Waste Risk Advisory Engine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100% Completed: Built dynamic cooking batch recommendations, LOW/MED/HIGH waste risk classification, and financial loss/savings computation.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TARGET IMPACT &amp; QUANTIFIED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Expected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755648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★ Outcome 1: 25% – 35% Food Waste Reduction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Precision ML demand forecasting prevents daily food surplus before cooking commences.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36792" y="1755648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★ Outcome 2: High Predictive Accuracy (R² ~ 0.89)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Ensemble Random Forest regressor achieves high R² &gt; 0.88 with minimal MAE/RMSE on test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82112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3291840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★ Outcome 3: 15% – 25% Procurement Cost Savings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Substantially cuts raw material expenditure by curbing over-preparation of high-cost food items.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182112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3291840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★ Outcome 4: Zero Hardware Cost Edge Deployment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Runs locally on staff Android smartphones/tablets without requiring expensive IoT weighing bins.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18304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4828032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★ Outcome 5: Real-Time Proactive Waste Risk Alerts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Instant LOW / MEDIUM / HIGH risk ratings with estimated financial loss warnings empower kitchen managers.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718304"/>
            <a:ext cx="52578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4828032"/>
            <a:ext cx="492861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0000"/>
                </a:solidFill>
                <a:latin typeface="Arial"/>
              </a:defRPr>
            </a:pPr>
            <a:r>
              <a:t>★ Outcome 6: Reduced Carbon Footprint (UN SDG 12)</a:t>
            </a:r>
          </a:p>
          <a:p>
            <a:pPr>
              <a:defRPr sz="1100">
                <a:solidFill>
                  <a:srgbClr val="3C3C3C"/>
                </a:solidFill>
                <a:latin typeface="Arial"/>
              </a:defRPr>
            </a:pPr>
            <a:r>
              <a:t>Curtails landfill organic waste decomposition, directly reducing methane and greenhouse gas emissions.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C3C3C"/>
                </a:solidFill>
                <a:latin typeface="Arial"/>
              </a:defRPr>
            </a:pPr>
            <a:r>
              <a:t>ACADEMIC &amp; TECHNICAL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978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36776"/>
            <a:ext cx="1072865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216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[1] UN FAO, "Food Wastage Footprint: Impacts on Natural Resources," Technical Report, Rome, 2021.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[2] M. Eriksson et al., "Food waste in educational catering: Quantities &amp; prevention," Res. </a:t>
            </a:r>
            <a:r>
              <a:rPr dirty="0" err="1"/>
              <a:t>Conserv</a:t>
            </a:r>
            <a:r>
              <a:rPr dirty="0"/>
              <a:t>. </a:t>
            </a:r>
            <a:r>
              <a:rPr dirty="0" err="1"/>
              <a:t>Recycl</a:t>
            </a:r>
            <a:r>
              <a:rPr dirty="0"/>
              <a:t>., vol. 138, pp. 245–253, 2018.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[3] M. A. Stockle et al., "Smart Waste Audit System: IoT-Driven Waste Tracking," IEEE Access, vol. 8, pp. 112450–112462, 2020.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[4] R. Vidal et al., "Predictive ML Modeling for Demand Forecasting in Dining Centers," J. Clean. Prod., vol. 294, p. 126201, 2021.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[5] P. Gaur et al., "Comparative Evaluation of ML Algorithms for Food Demand Forecasting," SN Appl. Sci., vol. 4, no. 6, pp. 1–14, 2022.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[6] L. </a:t>
            </a:r>
            <a:r>
              <a:rPr dirty="0" err="1"/>
              <a:t>Breiman</a:t>
            </a:r>
            <a:r>
              <a:rPr dirty="0"/>
              <a:t>, "Random Forests," Machine Learning, vol. 45, no. 1, pp. 5–32, 200</a:t>
            </a:r>
            <a:r>
              <a:rPr lang="en-US" dirty="0"/>
              <a:t>7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[7] Google Developers, "Jetpack Compose &amp; Android Architecture Components Documentation," Google LLC, 2024.</a:t>
            </a:r>
          </a:p>
          <a:p>
            <a:pPr>
              <a:spcAft>
                <a:spcPts val="8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rPr dirty="0"/>
              <a:t>[8] Google Developers, "Android Room Persistence Library Guide," Google LLC, 2024. [Online]. Available: https://developer.android.com/training/data-storage/room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1903</Words>
  <Application>Microsoft Office PowerPoint</Application>
  <PresentationFormat>Widescreen</PresentationFormat>
  <Paragraphs>157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SUJEETH B</cp:lastModifiedBy>
  <cp:revision>3</cp:revision>
  <dcterms:created xsi:type="dcterms:W3CDTF">2013-01-27T09:14:16Z</dcterms:created>
  <dcterms:modified xsi:type="dcterms:W3CDTF">2026-09-15T17:10:34Z</dcterms:modified>
  <cp:category/>
</cp:coreProperties>
</file>